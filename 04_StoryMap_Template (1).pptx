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E88CF5-6B6C-6DC4-A737-F86F3E681743}" v="46" dt="2026-01-28T08:27:46.320"/>
    <p1510:client id="{A274F177-6760-8F9B-46FD-93B5B003B519}" v="446" dt="2026-01-27T16:00:29.1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9296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Map — Fil rouge ThéÔBio (e-commerce thés &amp; infusions bio)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834640" y="868680"/>
            <a:ext cx="8778240" cy="384048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880360" y="886968"/>
            <a:ext cx="8686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en-US" sz="1200" b="1" dirty="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Scénario :</a:t>
            </a:r>
            <a:r>
              <a:rPr lang="en-US" sz="1200" b="1" dirty="0">
                <a:solidFill>
                  <a:srgbClr val="111827"/>
                </a:solidFill>
                <a:ea typeface="+mn-lt"/>
                <a:cs typeface="+mn-lt"/>
              </a:rPr>
              <a:t> processus d'achat sur un e-commerce (découvrir → acheter → recevoir)</a:t>
            </a:r>
            <a:endParaRPr lang="en-US" sz="1200" b="1" dirty="0">
              <a:ea typeface="+mn-lt"/>
              <a:cs typeface="+mn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064240" y="822960"/>
            <a:ext cx="54864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0" y="594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234440" cy="68580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435608"/>
            <a:ext cx="1143000" cy="6492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d'utilisateur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1234440" cy="59436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143000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697480"/>
            <a:ext cx="1234440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715768"/>
            <a:ext cx="1143000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291840"/>
            <a:ext cx="868680" cy="41148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310128"/>
            <a:ext cx="777240" cy="3749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(MVP)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4526280"/>
            <a:ext cx="8686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4544568"/>
            <a:ext cx="777240" cy="3749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5577840"/>
            <a:ext cx="868680" cy="41148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5596128"/>
            <a:ext cx="777240" cy="3749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6629400"/>
            <a:ext cx="868680" cy="41148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6647688"/>
            <a:ext cx="777240" cy="3749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737360" y="1417320"/>
            <a:ext cx="1481328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783080" y="1435608"/>
            <a:ext cx="1389888" cy="6492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en-US" sz="1100" b="1" dirty="0">
                <a:solidFill>
                  <a:srgbClr val="111827"/>
                </a:solidFill>
                <a:ea typeface="+mn-lt"/>
                <a:cs typeface="+mn-lt"/>
              </a:rPr>
              <a:t>Lina — admin boutique</a:t>
            </a:r>
            <a:endParaRPr lang="en-US" sz="1100">
              <a:ea typeface="+mn-lt"/>
              <a:cs typeface="+mn-lt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18688" y="1417320"/>
            <a:ext cx="740664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64408" y="1435608"/>
            <a:ext cx="7315200" cy="6492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en-US" sz="1100" b="1" dirty="0">
                <a:solidFill>
                  <a:srgbClr val="111827"/>
                </a:solidFill>
                <a:ea typeface="Calibri"/>
                <a:cs typeface="Calibri"/>
              </a:rPr>
              <a:t>Amina — cliente</a:t>
            </a:r>
            <a:endParaRPr lang="en-US" sz="11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625328" y="1417320"/>
            <a:ext cx="1481328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671048" y="1435608"/>
            <a:ext cx="1389888" cy="6492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Yassine — logistique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737360" y="2103120"/>
            <a:ext cx="148132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783080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Administrer le catalogue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37360" y="2697480"/>
            <a:ext cx="1481328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783080" y="2715768"/>
            <a:ext cx="1389888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 catalogue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792224" y="3310128"/>
            <a:ext cx="1371600" cy="301752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837944" y="3328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produit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92224" y="3639312"/>
            <a:ext cx="1371600" cy="301752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837944" y="3657600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à jour stock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792224" y="4544568"/>
            <a:ext cx="1371600" cy="301752"/>
          </a:xfrm>
          <a:prstGeom prst="roundRect">
            <a:avLst/>
          </a:prstGeom>
          <a:solidFill>
            <a:srgbClr val="FCD34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837944" y="456285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photos/description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92224" y="5596128"/>
            <a:ext cx="1371600" cy="301752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837944" y="5614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 produits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18688" y="2103120"/>
            <a:ext cx="148132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64408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 les produits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18688" y="2697480"/>
            <a:ext cx="1481328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264408" y="2715768"/>
            <a:ext cx="1389888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/ filtrer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73552" y="3310128"/>
            <a:ext cx="1371600" cy="301752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319272" y="3328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un produit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73552" y="3639312"/>
            <a:ext cx="1371600" cy="301752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319272" y="3657600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par catégories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73552" y="4544568"/>
            <a:ext cx="1371600" cy="301752"/>
          </a:xfrm>
          <a:prstGeom prst="roundRect">
            <a:avLst/>
          </a:prstGeom>
          <a:solidFill>
            <a:srgbClr val="FCD34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319272" y="456285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avancés (bio, goût)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73552" y="5596128"/>
            <a:ext cx="1371600" cy="301752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319272" y="5614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similaires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00016" y="2103120"/>
            <a:ext cx="148132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745736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 les produits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00016" y="2697480"/>
            <a:ext cx="1481328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745736" y="2715768"/>
            <a:ext cx="1389888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la fiche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54880" y="3310128"/>
            <a:ext cx="1371600" cy="301752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800600" y="3328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détail produit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54880" y="4544568"/>
            <a:ext cx="1371600" cy="301752"/>
          </a:xfrm>
          <a:prstGeom prst="roundRect">
            <a:avLst/>
          </a:prstGeom>
          <a:solidFill>
            <a:srgbClr val="FCD34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800600" y="456285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avis (mock)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54880" y="5596128"/>
            <a:ext cx="1371600" cy="301752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800600" y="5614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produits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81344" y="2103120"/>
            <a:ext cx="148132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227064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Acheter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181344" y="2697480"/>
            <a:ext cx="1481328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227064" y="2715768"/>
            <a:ext cx="1389888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au panier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236208" y="3310128"/>
            <a:ext cx="1371600" cy="301752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281928" y="3328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/ retirer du panier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236208" y="4544568"/>
            <a:ext cx="1371600" cy="301752"/>
          </a:xfrm>
          <a:prstGeom prst="roundRect">
            <a:avLst/>
          </a:prstGeom>
          <a:solidFill>
            <a:srgbClr val="FCD34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281928" y="456285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quantités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236208" y="5596128"/>
            <a:ext cx="1371600" cy="301752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281928" y="5614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Sauvegarder panier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662672" y="2103120"/>
            <a:ext cx="148132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708392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commande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662672" y="2697480"/>
            <a:ext cx="1481328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708392" y="2715768"/>
            <a:ext cx="1389888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717536" y="3310128"/>
            <a:ext cx="1371600" cy="301752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7763256" y="3328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adresse + contact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717536" y="4544568"/>
            <a:ext cx="1371600" cy="301752"/>
          </a:xfrm>
          <a:prstGeom prst="roundRect">
            <a:avLst/>
          </a:prstGeom>
          <a:solidFill>
            <a:srgbClr val="FCD34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7763256" y="456285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client (optionnel)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717536" y="5596128"/>
            <a:ext cx="1371600" cy="301752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7763256" y="5614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Google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9144000" y="2103120"/>
            <a:ext cx="148132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9189720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Finaliser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9144000" y="2697480"/>
            <a:ext cx="1481328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9189720" y="2715768"/>
            <a:ext cx="1389888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9198864" y="3310128"/>
            <a:ext cx="1371600" cy="301752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9244584" y="3328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commande + confirmation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9198864" y="4544568"/>
            <a:ext cx="1371600" cy="301752"/>
          </a:xfrm>
          <a:prstGeom prst="roundRect">
            <a:avLst/>
          </a:prstGeom>
          <a:solidFill>
            <a:srgbClr val="FCD34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9244584" y="456285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promo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9198864" y="5596128"/>
            <a:ext cx="1371600" cy="301752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9244584" y="5614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0625328" y="2103120"/>
            <a:ext cx="148132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10671048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/ livrer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10625328" y="2697480"/>
            <a:ext cx="1481328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10671048" y="2715768"/>
            <a:ext cx="1389888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expédition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10680192" y="3310128"/>
            <a:ext cx="1371600" cy="301752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10725912" y="3328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Marquer “préparée”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10680192" y="3639312"/>
            <a:ext cx="1371600" cy="301752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10725912" y="3657600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de préparation (simple)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10680192" y="4544568"/>
            <a:ext cx="1371600" cy="301752"/>
          </a:xfrm>
          <a:prstGeom prst="roundRect">
            <a:avLst/>
          </a:prstGeom>
          <a:solidFill>
            <a:srgbClr val="FCD34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10725912" y="456285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“expédiée”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10680192" y="5596128"/>
            <a:ext cx="1371600" cy="301752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10725912" y="5614416"/>
            <a:ext cx="1280160" cy="2651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&amp; Collect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10680192" y="6647688"/>
            <a:ext cx="1371600" cy="25603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10725912" y="6665976"/>
            <a:ext cx="1280160" cy="21945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IA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10680192" y="6931152"/>
            <a:ext cx="1371600" cy="25603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10725912" y="6949440"/>
            <a:ext cx="1280160" cy="21945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fidélité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502920" y="4480560"/>
            <a:ext cx="116037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502920" y="5532120"/>
            <a:ext cx="116037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502920" y="6583680"/>
            <a:ext cx="116037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 rot="16200000">
            <a:off x="-866568" y="2246965"/>
            <a:ext cx="2269583" cy="423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400" dirty="0"/>
          </a:p>
        </p:txBody>
      </p:sp>
      <p:sp>
        <p:nvSpPr>
          <p:cNvPr id="111" name="Text 109"/>
          <p:cNvSpPr/>
          <p:nvPr/>
        </p:nvSpPr>
        <p:spPr>
          <a:xfrm>
            <a:off x="548640" y="6355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: colonnes = étapes du scénario (temps) ; lignes = priorité (MUST→SHOULD→WOULD→WON'T).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“FEATURES” = activités (équivalent Features). Cartes = User Stories. 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 dirty="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Story Map — Fil rouge </a:t>
            </a:r>
            <a:r>
              <a:rPr lang="en-US" sz="3000" b="1" err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Perfomance</a:t>
            </a:r>
            <a:r>
              <a:rPr lang="en-US" sz="3000" b="1" dirty="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 ID </a:t>
            </a:r>
            <a:r>
              <a:rPr lang="en-US" sz="2400" b="1" dirty="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(Processus </a:t>
            </a:r>
            <a:r>
              <a:rPr lang="en-US" sz="2400" b="1" err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d'entrainement</a:t>
            </a:r>
            <a:r>
              <a:rPr lang="en-US" sz="2400" b="1" dirty="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400" b="1" err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sécurisé</a:t>
            </a:r>
            <a:r>
              <a:rPr lang="en-US" sz="2400" b="1" dirty="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)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834640" y="868680"/>
            <a:ext cx="8778240" cy="384048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880360" y="886968"/>
            <a:ext cx="8686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en-US" sz="1200" b="1" dirty="0" err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Scénario</a:t>
            </a:r>
            <a:r>
              <a:rPr lang="en-US" sz="1200" b="1" dirty="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 : </a:t>
            </a:r>
            <a:r>
              <a:rPr lang="en-US" sz="1200" b="1" dirty="0">
                <a:solidFill>
                  <a:srgbClr val="111827"/>
                </a:solidFill>
                <a:ea typeface="+mn-lt"/>
                <a:cs typeface="+mn-lt"/>
              </a:rPr>
              <a:t>Processus </a:t>
            </a:r>
            <a:r>
              <a:rPr lang="en-US" sz="1200" b="1" dirty="0" err="1">
                <a:solidFill>
                  <a:srgbClr val="111827"/>
                </a:solidFill>
                <a:ea typeface="+mn-lt"/>
                <a:cs typeface="+mn-lt"/>
              </a:rPr>
              <a:t>d’entraînement</a:t>
            </a:r>
            <a:r>
              <a:rPr lang="en-US" sz="1200" b="1" dirty="0">
                <a:solidFill>
                  <a:srgbClr val="111827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111827"/>
                </a:solidFill>
                <a:ea typeface="+mn-lt"/>
                <a:cs typeface="+mn-lt"/>
              </a:rPr>
              <a:t>sécurisé</a:t>
            </a:r>
            <a:r>
              <a:rPr lang="en-US" sz="1200" b="1" dirty="0">
                <a:solidFill>
                  <a:srgbClr val="111827"/>
                </a:solidFill>
                <a:ea typeface="+mn-lt"/>
                <a:cs typeface="+mn-lt"/>
              </a:rPr>
              <a:t> (Se connecter → </a:t>
            </a:r>
            <a:r>
              <a:rPr lang="en-US" sz="1200" b="1" dirty="0" err="1">
                <a:solidFill>
                  <a:srgbClr val="111827"/>
                </a:solidFill>
                <a:ea typeface="+mn-lt"/>
                <a:cs typeface="+mn-lt"/>
              </a:rPr>
              <a:t>S’entraîner</a:t>
            </a:r>
            <a:r>
              <a:rPr lang="en-US" sz="1200" b="1" dirty="0">
                <a:solidFill>
                  <a:srgbClr val="111827"/>
                </a:solidFill>
                <a:ea typeface="+mn-lt"/>
                <a:cs typeface="+mn-lt"/>
              </a:rPr>
              <a:t> → </a:t>
            </a:r>
            <a:r>
              <a:rPr lang="en-US" sz="1200" b="1" dirty="0" err="1">
                <a:solidFill>
                  <a:srgbClr val="111827"/>
                </a:solidFill>
                <a:ea typeface="+mn-lt"/>
                <a:cs typeface="+mn-lt"/>
              </a:rPr>
              <a:t>Analyser</a:t>
            </a:r>
            <a:r>
              <a:rPr lang="en-US" sz="1200" b="1" dirty="0">
                <a:solidFill>
                  <a:srgbClr val="111827"/>
                </a:solidFill>
                <a:ea typeface="+mn-lt"/>
                <a:cs typeface="+mn-lt"/>
              </a:rPr>
              <a:t>)</a:t>
            </a:r>
            <a:endParaRPr lang="en-US" sz="12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064240" y="822960"/>
            <a:ext cx="54864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0" y="594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234440" cy="68580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435608"/>
            <a:ext cx="1143000" cy="6492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Type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1400" b="1" dirty="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  </a:t>
            </a:r>
            <a:r>
              <a:rPr lang="en-US" sz="1400" b="1" err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d'utilisateur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2117497"/>
            <a:ext cx="1234440" cy="59436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143000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EPICS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02920" y="2697480"/>
            <a:ext cx="1234440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715768"/>
            <a:ext cx="1143000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FEATURES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" y="3291840"/>
            <a:ext cx="868680" cy="41148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310128"/>
            <a:ext cx="777240" cy="3749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(MVP)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4526280"/>
            <a:ext cx="8686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4544568"/>
            <a:ext cx="777240" cy="3749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5577840"/>
            <a:ext cx="868680" cy="41148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5596128"/>
            <a:ext cx="777240" cy="3749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6629400"/>
            <a:ext cx="868680" cy="41148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6647688"/>
            <a:ext cx="777240" cy="3749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737360" y="1417320"/>
            <a:ext cx="1481328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783080" y="1435608"/>
            <a:ext cx="1389888" cy="6492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en-US" sz="1400" b="1" dirty="0">
                <a:solidFill>
                  <a:srgbClr val="111827"/>
                </a:solidFill>
                <a:ea typeface="+mn-lt"/>
                <a:cs typeface="+mn-lt"/>
              </a:rPr>
              <a:t>Rayane (Go-</a:t>
            </a:r>
            <a:r>
              <a:rPr lang="en-US" sz="1400" b="1" err="1">
                <a:solidFill>
                  <a:srgbClr val="111827"/>
                </a:solidFill>
                <a:ea typeface="+mn-lt"/>
                <a:cs typeface="+mn-lt"/>
              </a:rPr>
              <a:t>muscu</a:t>
            </a:r>
            <a:r>
              <a:rPr lang="en-US" sz="1400" b="1" dirty="0">
                <a:solidFill>
                  <a:srgbClr val="111827"/>
                </a:solidFill>
                <a:ea typeface="+mn-lt"/>
                <a:cs typeface="+mn-lt"/>
              </a:rPr>
              <a:t> prudent) </a:t>
            </a:r>
            <a:endParaRPr lang="fr-FR" sz="1400" dirty="0"/>
          </a:p>
        </p:txBody>
      </p:sp>
      <p:sp>
        <p:nvSpPr>
          <p:cNvPr id="23" name="Shape 21"/>
          <p:cNvSpPr/>
          <p:nvPr/>
        </p:nvSpPr>
        <p:spPr>
          <a:xfrm>
            <a:off x="1737360" y="2103120"/>
            <a:ext cx="148132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783080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en-US" sz="1200" b="1" err="1">
                <a:solidFill>
                  <a:srgbClr val="111827"/>
                </a:solidFill>
                <a:ea typeface="+mn-lt"/>
                <a:cs typeface="+mn-lt"/>
              </a:rPr>
              <a:t>Sécurité</a:t>
            </a:r>
            <a:r>
              <a:rPr lang="en-US" sz="1200" b="1" dirty="0">
                <a:solidFill>
                  <a:srgbClr val="111827"/>
                </a:solidFill>
                <a:ea typeface="+mn-lt"/>
                <a:cs typeface="+mn-lt"/>
              </a:rPr>
              <a:t> et </a:t>
            </a:r>
            <a:r>
              <a:rPr lang="en-US" sz="1200" b="1" err="1">
                <a:solidFill>
                  <a:srgbClr val="111827"/>
                </a:solidFill>
                <a:ea typeface="+mn-lt"/>
                <a:cs typeface="+mn-lt"/>
              </a:rPr>
              <a:t>Accès</a:t>
            </a:r>
            <a:endParaRPr lang="en-US" sz="1200" b="1">
              <a:solidFill>
                <a:srgbClr val="111827"/>
              </a:solidFill>
              <a:ea typeface="+mn-lt"/>
              <a:cs typeface="+mn-lt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737360" y="2697480"/>
            <a:ext cx="1481328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783080" y="2715768"/>
            <a:ext cx="1389888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en-US" sz="1200" b="1" err="1">
                <a:solidFill>
                  <a:srgbClr val="064E3B"/>
                </a:solidFill>
                <a:ea typeface="+mn-lt"/>
                <a:cs typeface="+mn-lt"/>
              </a:rPr>
              <a:t>Connexion</a:t>
            </a:r>
            <a:r>
              <a:rPr lang="en-US" sz="1200" b="1">
                <a:solidFill>
                  <a:srgbClr val="064E3B"/>
                </a:solidFill>
                <a:ea typeface="+mn-lt"/>
                <a:cs typeface="+mn-lt"/>
              </a:rPr>
              <a:t> MFA </a:t>
            </a:r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1792224" y="3310128"/>
            <a:ext cx="1371600" cy="110642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400" dirty="0">
                <a:ea typeface="+mn-lt"/>
                <a:cs typeface="+mn-lt"/>
              </a:rPr>
              <a:t>• Login Email/MDP</a:t>
            </a:r>
          </a:p>
          <a:p>
            <a:r>
              <a:rPr lang="en-US" sz="1400" dirty="0">
                <a:ea typeface="+mn-lt"/>
                <a:cs typeface="+mn-lt"/>
              </a:rPr>
              <a:t>• Validation TOTP (6 chiffres)</a:t>
            </a:r>
            <a:endParaRPr lang="en-US" sz="1400" dirty="0"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792224" y="4544568"/>
            <a:ext cx="1371600" cy="92354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400" dirty="0">
                <a:ea typeface="+mn-lt"/>
                <a:cs typeface="+mn-lt"/>
              </a:rPr>
              <a:t>• Reset mot de </a:t>
            </a:r>
            <a:r>
              <a:rPr lang="en-US" sz="1400">
                <a:ea typeface="+mn-lt"/>
                <a:cs typeface="+mn-lt"/>
              </a:rPr>
              <a:t>passe</a:t>
            </a:r>
          </a:p>
          <a:p>
            <a:r>
              <a:rPr lang="en-US" sz="1400" dirty="0">
                <a:ea typeface="+mn-lt"/>
                <a:cs typeface="+mn-lt"/>
              </a:rPr>
              <a:t>• Inscription via QR Code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1792224" y="5596128"/>
            <a:ext cx="1371600" cy="92354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400" dirty="0">
                <a:ea typeface="+mn-lt"/>
                <a:cs typeface="+mn-lt"/>
              </a:rPr>
              <a:t>• Login via Google 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 dirty="0">
                <a:ea typeface="+mn-lt"/>
                <a:cs typeface="+mn-lt"/>
              </a:rPr>
              <a:t>• Mode </a:t>
            </a:r>
            <a:r>
              <a:rPr lang="en-US" sz="1400" err="1">
                <a:ea typeface="+mn-lt"/>
                <a:cs typeface="+mn-lt"/>
              </a:rPr>
              <a:t>Sombre</a:t>
            </a:r>
            <a:r>
              <a:rPr lang="en-US" sz="1400" dirty="0">
                <a:ea typeface="+mn-lt"/>
                <a:cs typeface="+mn-lt"/>
              </a:rPr>
              <a:t> (Dark Mode) </a:t>
            </a:r>
            <a:endParaRPr lang="en-US" sz="1400" dirty="0"/>
          </a:p>
          <a:p>
            <a:endParaRPr lang="en-US" sz="1200" dirty="0">
              <a:ea typeface="Calibri"/>
              <a:cs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792224" y="6647688"/>
            <a:ext cx="1371600" cy="649224"/>
          </a:xfrm>
          <a:prstGeom prst="rect">
            <a:avLst/>
          </a:prstGeom>
          <a:solidFill>
            <a:srgbClr val="F8FAFC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fr-FR" sz="1400" dirty="0"/>
              <a:t>• Paiement Premium 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218688" y="1417320"/>
            <a:ext cx="1481328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64408" y="1435608"/>
            <a:ext cx="1389888" cy="6492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en-US" sz="1400" b="1" err="1">
                <a:solidFill>
                  <a:srgbClr val="111827"/>
                </a:solidFill>
                <a:ea typeface="+mn-lt"/>
                <a:cs typeface="+mn-lt"/>
              </a:rPr>
              <a:t>Wadoud</a:t>
            </a:r>
            <a:r>
              <a:rPr lang="en-US" sz="1400" b="1" dirty="0">
                <a:solidFill>
                  <a:srgbClr val="111827"/>
                </a:solidFill>
                <a:ea typeface="+mn-lt"/>
                <a:cs typeface="+mn-lt"/>
              </a:rPr>
              <a:t> (Admin</a:t>
            </a:r>
            <a:r>
              <a:rPr lang="en-US" sz="1100" b="1" dirty="0">
                <a:solidFill>
                  <a:srgbClr val="111827"/>
                </a:solidFill>
                <a:ea typeface="+mn-lt"/>
                <a:cs typeface="+mn-lt"/>
              </a:rPr>
              <a:t>) </a:t>
            </a:r>
            <a:endParaRPr lang="fr-FR" dirty="0"/>
          </a:p>
        </p:txBody>
      </p:sp>
      <p:sp>
        <p:nvSpPr>
          <p:cNvPr id="33" name="Shape 31"/>
          <p:cNvSpPr/>
          <p:nvPr/>
        </p:nvSpPr>
        <p:spPr>
          <a:xfrm>
            <a:off x="3218688" y="2103120"/>
            <a:ext cx="148132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64408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ea typeface="Calibri"/>
                <a:cs typeface="Calibri"/>
              </a:rPr>
              <a:t>Catalogue</a:t>
            </a:r>
          </a:p>
        </p:txBody>
      </p:sp>
      <p:sp>
        <p:nvSpPr>
          <p:cNvPr id="35" name="Shape 33"/>
          <p:cNvSpPr/>
          <p:nvPr/>
        </p:nvSpPr>
        <p:spPr>
          <a:xfrm>
            <a:off x="3218688" y="2697480"/>
            <a:ext cx="1481328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64408" y="2715768"/>
            <a:ext cx="1389888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en-US" sz="1200" b="1" dirty="0">
                <a:solidFill>
                  <a:srgbClr val="064E3B"/>
                </a:solidFill>
                <a:ea typeface="Calibri"/>
                <a:cs typeface="Calibri"/>
              </a:rPr>
              <a:t>Gestion Admin</a:t>
            </a:r>
          </a:p>
        </p:txBody>
      </p:sp>
      <p:sp>
        <p:nvSpPr>
          <p:cNvPr id="37" name="Shape 35"/>
          <p:cNvSpPr/>
          <p:nvPr/>
        </p:nvSpPr>
        <p:spPr>
          <a:xfrm>
            <a:off x="3273552" y="3310128"/>
            <a:ext cx="1371600" cy="110642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400" dirty="0">
                <a:ea typeface="+mn-lt"/>
                <a:cs typeface="+mn-lt"/>
              </a:rPr>
              <a:t>• Créer un </a:t>
            </a:r>
            <a:r>
              <a:rPr lang="en-US" sz="1400" dirty="0" err="1">
                <a:ea typeface="+mn-lt"/>
                <a:cs typeface="+mn-lt"/>
              </a:rPr>
              <a:t>exercice</a:t>
            </a:r>
            <a:r>
              <a:rPr lang="en-US" sz="1400" dirty="0">
                <a:ea typeface="+mn-lt"/>
                <a:cs typeface="+mn-lt"/>
              </a:rPr>
              <a:t> </a:t>
            </a:r>
          </a:p>
          <a:p>
            <a:r>
              <a:rPr lang="en-US" sz="1400" dirty="0">
                <a:ea typeface="+mn-lt"/>
                <a:cs typeface="+mn-lt"/>
              </a:rPr>
              <a:t>• Lister les </a:t>
            </a:r>
            <a:r>
              <a:rPr lang="en-US" sz="1400" dirty="0" err="1">
                <a:ea typeface="+mn-lt"/>
                <a:cs typeface="+mn-lt"/>
              </a:rPr>
              <a:t>exercices</a:t>
            </a:r>
            <a:r>
              <a:rPr lang="en-US" sz="1400" dirty="0">
                <a:ea typeface="+mn-lt"/>
                <a:cs typeface="+mn-lt"/>
              </a:rPr>
              <a:t> 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3273552" y="4544568"/>
            <a:ext cx="1371600" cy="92354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400" dirty="0">
                <a:ea typeface="+mn-lt"/>
                <a:cs typeface="+mn-lt"/>
              </a:rPr>
              <a:t>•Modifier/</a:t>
            </a:r>
            <a:r>
              <a:rPr lang="en-US" sz="1400" dirty="0" err="1">
                <a:ea typeface="+mn-lt"/>
                <a:cs typeface="+mn-lt"/>
              </a:rPr>
              <a:t>Supprimer</a:t>
            </a:r>
            <a:r>
              <a:rPr lang="en-US" sz="1400" dirty="0">
                <a:ea typeface="+mn-lt"/>
                <a:cs typeface="+mn-lt"/>
              </a:rPr>
              <a:t> un </a:t>
            </a:r>
            <a:r>
              <a:rPr lang="en-US" sz="1400" dirty="0" err="1">
                <a:ea typeface="+mn-lt"/>
                <a:cs typeface="+mn-lt"/>
              </a:rPr>
              <a:t>exercice</a:t>
            </a:r>
            <a:endParaRPr lang="fr-FR" dirty="0" err="1">
              <a:ea typeface="+mn-lt"/>
              <a:cs typeface="+mn-lt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273552" y="5596128"/>
            <a:ext cx="1371600" cy="92354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400" dirty="0">
                <a:ea typeface="+mn-lt"/>
                <a:cs typeface="+mn-lt"/>
              </a:rPr>
              <a:t>• </a:t>
            </a:r>
            <a:r>
              <a:rPr lang="en-US" sz="1400" err="1">
                <a:ea typeface="+mn-lt"/>
                <a:cs typeface="+mn-lt"/>
              </a:rPr>
              <a:t>Ajouter</a:t>
            </a:r>
            <a:r>
              <a:rPr lang="en-US" sz="1400" dirty="0">
                <a:ea typeface="+mn-lt"/>
                <a:cs typeface="+mn-lt"/>
              </a:rPr>
              <a:t> photos/</a:t>
            </a:r>
            <a:r>
              <a:rPr lang="en-US" sz="1400" err="1">
                <a:ea typeface="+mn-lt"/>
                <a:cs typeface="+mn-lt"/>
              </a:rPr>
              <a:t>vidéos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démo</a:t>
            </a:r>
            <a:r>
              <a:rPr lang="en-US" sz="1400" dirty="0">
                <a:ea typeface="+mn-lt"/>
                <a:cs typeface="+mn-lt"/>
              </a:rPr>
              <a:t> </a:t>
            </a:r>
            <a:endParaRPr lang="fr-FR" sz="1400" dirty="0">
              <a:ea typeface="Calibri"/>
              <a:cs typeface="Calibri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273552" y="6647688"/>
            <a:ext cx="1371600" cy="649224"/>
          </a:xfrm>
          <a:prstGeom prst="rect">
            <a:avLst/>
          </a:prstGeom>
          <a:solidFill>
            <a:srgbClr val="F8FAFC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fr-FR" sz="1400" dirty="0"/>
              <a:t>• Import CSV massi</a:t>
            </a:r>
            <a:r>
              <a:rPr lang="fr-FR" dirty="0"/>
              <a:t>f 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700016" y="1417320"/>
            <a:ext cx="1481328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45736" y="1435608"/>
            <a:ext cx="1389888" cy="6492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en-US" sz="1400" b="1" dirty="0">
                <a:solidFill>
                  <a:srgbClr val="111827"/>
                </a:solidFill>
                <a:ea typeface="+mn-lt"/>
                <a:cs typeface="+mn-lt"/>
              </a:rPr>
              <a:t>Kennedy (Go-</a:t>
            </a:r>
            <a:r>
              <a:rPr lang="en-US" sz="1400" b="1" err="1">
                <a:solidFill>
                  <a:srgbClr val="111827"/>
                </a:solidFill>
                <a:ea typeface="+mn-lt"/>
                <a:cs typeface="+mn-lt"/>
              </a:rPr>
              <a:t>muscu</a:t>
            </a:r>
            <a:r>
              <a:rPr lang="en-US" sz="1400" b="1" dirty="0">
                <a:solidFill>
                  <a:srgbClr val="111827"/>
                </a:solidFill>
                <a:ea typeface="+mn-lt"/>
                <a:cs typeface="+mn-lt"/>
              </a:rPr>
              <a:t> </a:t>
            </a:r>
            <a:r>
              <a:rPr lang="en-US" sz="1400" b="1" err="1">
                <a:solidFill>
                  <a:srgbClr val="111827"/>
                </a:solidFill>
                <a:ea typeface="+mn-lt"/>
                <a:cs typeface="+mn-lt"/>
              </a:rPr>
              <a:t>assidu</a:t>
            </a:r>
            <a:r>
              <a:rPr lang="en-US" sz="1400" b="1" dirty="0">
                <a:solidFill>
                  <a:srgbClr val="111827"/>
                </a:solidFill>
                <a:ea typeface="+mn-lt"/>
                <a:cs typeface="+mn-lt"/>
              </a:rPr>
              <a:t>) </a:t>
            </a:r>
            <a:endParaRPr lang="fr-FR" sz="1400">
              <a:ea typeface="Calibri"/>
              <a:cs typeface="Calibri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700016" y="2103120"/>
            <a:ext cx="148132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45736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en-US" sz="1200" b="1" dirty="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Journal de Bord</a:t>
            </a:r>
          </a:p>
        </p:txBody>
      </p:sp>
      <p:sp>
        <p:nvSpPr>
          <p:cNvPr id="45" name="Shape 43"/>
          <p:cNvSpPr/>
          <p:nvPr/>
        </p:nvSpPr>
        <p:spPr>
          <a:xfrm>
            <a:off x="4700016" y="2697480"/>
            <a:ext cx="1481328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45736" y="2715768"/>
            <a:ext cx="1389888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en-US" sz="1200" b="1" dirty="0" err="1">
                <a:solidFill>
                  <a:srgbClr val="064E3B"/>
                </a:solidFill>
                <a:ea typeface="Calibri"/>
                <a:cs typeface="Calibri"/>
              </a:rPr>
              <a:t>Saisie</a:t>
            </a:r>
            <a:r>
              <a:rPr lang="en-US" sz="1200" b="1" dirty="0">
                <a:solidFill>
                  <a:srgbClr val="064E3B"/>
                </a:solidFill>
                <a:ea typeface="Calibri"/>
                <a:cs typeface="Calibri"/>
              </a:rPr>
              <a:t> de </a:t>
            </a:r>
            <a:r>
              <a:rPr lang="en-US" sz="1200" b="1" dirty="0" err="1">
                <a:solidFill>
                  <a:srgbClr val="064E3B"/>
                </a:solidFill>
                <a:ea typeface="Calibri"/>
                <a:cs typeface="Calibri"/>
              </a:rPr>
              <a:t>Perfomance</a:t>
            </a:r>
            <a:endParaRPr lang="en-US" sz="1200" dirty="0" err="1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754880" y="3310128"/>
            <a:ext cx="1371600" cy="110642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400" dirty="0">
                <a:ea typeface="+mn-lt"/>
                <a:cs typeface="+mn-lt"/>
              </a:rPr>
              <a:t>• Créer </a:t>
            </a:r>
            <a:r>
              <a:rPr lang="en-US" sz="1400" err="1">
                <a:ea typeface="+mn-lt"/>
                <a:cs typeface="+mn-lt"/>
              </a:rPr>
              <a:t>une</a:t>
            </a:r>
            <a:r>
              <a:rPr lang="en-US" sz="1400" dirty="0">
                <a:ea typeface="+mn-lt"/>
                <a:cs typeface="+mn-lt"/>
              </a:rPr>
              <a:t> séance </a:t>
            </a:r>
            <a:endParaRPr lang="fr-FR" sz="1400" dirty="0">
              <a:ea typeface="Calibri"/>
              <a:cs typeface="Calibri"/>
            </a:endParaRPr>
          </a:p>
          <a:p>
            <a:r>
              <a:rPr lang="en-US" sz="1400" dirty="0">
                <a:ea typeface="+mn-lt"/>
                <a:cs typeface="+mn-lt"/>
              </a:rPr>
              <a:t>• </a:t>
            </a:r>
            <a:r>
              <a:rPr lang="en-US" sz="1400" dirty="0" err="1">
                <a:ea typeface="+mn-lt"/>
                <a:cs typeface="+mn-lt"/>
              </a:rPr>
              <a:t>Ajouter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Séries</a:t>
            </a:r>
            <a:r>
              <a:rPr lang="en-US" sz="1400" dirty="0">
                <a:ea typeface="+mn-lt"/>
                <a:cs typeface="+mn-lt"/>
              </a:rPr>
              <a:t> (</a:t>
            </a:r>
            <a:r>
              <a:rPr lang="en-US" sz="1400" dirty="0" err="1">
                <a:ea typeface="+mn-lt"/>
                <a:cs typeface="+mn-lt"/>
              </a:rPr>
              <a:t>Poids</a:t>
            </a:r>
            <a:r>
              <a:rPr lang="en-US" sz="1400" dirty="0">
                <a:ea typeface="+mn-lt"/>
                <a:cs typeface="+mn-lt"/>
              </a:rPr>
              <a:t>/Reps) 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754880" y="4544568"/>
            <a:ext cx="1371600" cy="92354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400" dirty="0">
                <a:ea typeface="+mn-lt"/>
                <a:cs typeface="+mn-lt"/>
              </a:rPr>
              <a:t>• </a:t>
            </a:r>
            <a:r>
              <a:rPr lang="en-US" sz="1400" err="1">
                <a:ea typeface="+mn-lt"/>
                <a:cs typeface="+mn-lt"/>
              </a:rPr>
              <a:t>Chronomètre</a:t>
            </a:r>
            <a:r>
              <a:rPr lang="en-US" sz="1400" dirty="0">
                <a:ea typeface="+mn-lt"/>
                <a:cs typeface="+mn-lt"/>
              </a:rPr>
              <a:t> de repos</a:t>
            </a:r>
          </a:p>
          <a:p>
            <a:r>
              <a:rPr lang="en-US" sz="1400" dirty="0">
                <a:ea typeface="+mn-lt"/>
                <a:cs typeface="+mn-lt"/>
              </a:rPr>
              <a:t>• </a:t>
            </a:r>
            <a:r>
              <a:rPr lang="en-US" sz="1400" dirty="0" err="1">
                <a:ea typeface="+mn-lt"/>
                <a:cs typeface="+mn-lt"/>
              </a:rPr>
              <a:t>Historique</a:t>
            </a:r>
            <a:r>
              <a:rPr lang="en-US" sz="1400" dirty="0">
                <a:ea typeface="+mn-lt"/>
                <a:cs typeface="+mn-lt"/>
              </a:rPr>
              <a:t> des séances </a:t>
            </a: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4754880" y="5596128"/>
            <a:ext cx="1371600" cy="92354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400" dirty="0">
                <a:ea typeface="+mn-lt"/>
                <a:cs typeface="+mn-lt"/>
              </a:rPr>
              <a:t>• </a:t>
            </a:r>
            <a:r>
              <a:rPr lang="en-US" sz="1400" err="1">
                <a:ea typeface="+mn-lt"/>
                <a:cs typeface="+mn-lt"/>
              </a:rPr>
              <a:t>Partager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une</a:t>
            </a:r>
            <a:r>
              <a:rPr lang="en-US" sz="1400" dirty="0">
                <a:ea typeface="+mn-lt"/>
                <a:cs typeface="+mn-lt"/>
              </a:rPr>
              <a:t> séance 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 dirty="0">
                <a:ea typeface="+mn-lt"/>
                <a:cs typeface="+mn-lt"/>
              </a:rPr>
              <a:t>• </a:t>
            </a:r>
            <a:r>
              <a:rPr lang="en-US" sz="1400" err="1">
                <a:ea typeface="+mn-lt"/>
                <a:cs typeface="+mn-lt"/>
              </a:rPr>
              <a:t>Programme</a:t>
            </a:r>
            <a:r>
              <a:rPr lang="en-US" sz="1400" dirty="0">
                <a:ea typeface="+mn-lt"/>
                <a:cs typeface="+mn-lt"/>
              </a:rPr>
              <a:t> type </a:t>
            </a:r>
            <a:endParaRPr lang="en-US" sz="1400" dirty="0"/>
          </a:p>
          <a:p>
            <a:endParaRPr lang="en-US" sz="1200" dirty="0">
              <a:ea typeface="Calibri"/>
              <a:cs typeface="Calibri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754880" y="6647688"/>
            <a:ext cx="1371600" cy="649224"/>
          </a:xfrm>
          <a:prstGeom prst="rect">
            <a:avLst/>
          </a:prstGeom>
          <a:solidFill>
            <a:srgbClr val="F8FAFC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fr-FR" sz="1400" dirty="0"/>
              <a:t>• Coaching en live 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181344" y="1417320"/>
            <a:ext cx="1481328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227064" y="1435608"/>
            <a:ext cx="1389888" cy="6492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en-US" sz="1400" b="1" dirty="0" err="1">
                <a:solidFill>
                  <a:srgbClr val="111827"/>
                </a:solidFill>
                <a:ea typeface="+mn-lt"/>
                <a:cs typeface="+mn-lt"/>
              </a:rPr>
              <a:t>Wadoud</a:t>
            </a:r>
            <a:r>
              <a:rPr lang="en-US" sz="1400" b="1" dirty="0">
                <a:solidFill>
                  <a:srgbClr val="111827"/>
                </a:solidFill>
                <a:ea typeface="+mn-lt"/>
                <a:cs typeface="+mn-lt"/>
              </a:rPr>
              <a:t> (Admin) </a:t>
            </a:r>
            <a:endParaRPr lang="fr-FR" sz="1400">
              <a:ea typeface="Calibri"/>
              <a:cs typeface="Calibri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181344" y="2103120"/>
            <a:ext cx="148132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227064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en-US" sz="1200" b="1" dirty="0" err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Statistiques</a:t>
            </a:r>
            <a:r>
              <a:rPr lang="en-US" sz="1200" b="1" dirty="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 et Logs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6181344" y="2697480"/>
            <a:ext cx="1481328" cy="54864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227064" y="2715768"/>
            <a:ext cx="1389888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/>
            <a:r>
              <a:rPr lang="en-US" sz="1200" b="1" dirty="0">
                <a:solidFill>
                  <a:srgbClr val="064E3B"/>
                </a:solidFill>
                <a:latin typeface="Calibri"/>
                <a:ea typeface="Calibri"/>
                <a:cs typeface="Calibri"/>
              </a:rPr>
              <a:t>Dashboard et Audit</a:t>
            </a:r>
          </a:p>
        </p:txBody>
      </p:sp>
      <p:sp>
        <p:nvSpPr>
          <p:cNvPr id="57" name="Shape 55"/>
          <p:cNvSpPr/>
          <p:nvPr/>
        </p:nvSpPr>
        <p:spPr>
          <a:xfrm>
            <a:off x="6236208" y="3310128"/>
            <a:ext cx="1371600" cy="110642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400" dirty="0">
                <a:ea typeface="+mn-lt"/>
                <a:cs typeface="+mn-lt"/>
              </a:rPr>
              <a:t>• </a:t>
            </a:r>
            <a:r>
              <a:rPr lang="en-US" sz="1400" err="1">
                <a:ea typeface="+mn-lt"/>
                <a:cs typeface="+mn-lt"/>
              </a:rPr>
              <a:t>Calcul</a:t>
            </a:r>
            <a:r>
              <a:rPr lang="en-US" sz="1400" dirty="0">
                <a:ea typeface="+mn-lt"/>
                <a:cs typeface="+mn-lt"/>
              </a:rPr>
              <a:t> du volume total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sz="1400" dirty="0">
                <a:ea typeface="+mn-lt"/>
                <a:cs typeface="+mn-lt"/>
              </a:rPr>
              <a:t>• Logs des </a:t>
            </a:r>
            <a:r>
              <a:rPr lang="en-US" sz="1400" err="1">
                <a:ea typeface="+mn-lt"/>
                <a:cs typeface="+mn-lt"/>
              </a:rPr>
              <a:t>accès</a:t>
            </a:r>
            <a:r>
              <a:rPr lang="en-US" sz="1400" dirty="0">
                <a:ea typeface="+mn-lt"/>
                <a:cs typeface="+mn-lt"/>
              </a:rPr>
              <a:t> (MongoDB)</a:t>
            </a:r>
            <a:endParaRPr lang="en-US" sz="1400" dirty="0">
              <a:ea typeface="Calibri"/>
              <a:cs typeface="Calibri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6236208" y="4544568"/>
            <a:ext cx="1371600" cy="92354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400" dirty="0">
                <a:ea typeface="+mn-lt"/>
                <a:cs typeface="+mn-lt"/>
              </a:rPr>
              <a:t>• </a:t>
            </a:r>
            <a:r>
              <a:rPr lang="en-US" sz="1400" dirty="0" err="1">
                <a:ea typeface="+mn-lt"/>
                <a:cs typeface="+mn-lt"/>
              </a:rPr>
              <a:t>Graphique</a:t>
            </a:r>
            <a:r>
              <a:rPr lang="en-US" sz="1400" dirty="0">
                <a:ea typeface="+mn-lt"/>
                <a:cs typeface="+mn-lt"/>
              </a:rPr>
              <a:t> de progression </a:t>
            </a:r>
            <a:r>
              <a:rPr lang="en-US" sz="1400">
                <a:ea typeface="+mn-lt"/>
                <a:cs typeface="+mn-lt"/>
              </a:rPr>
              <a:t>(1RM) </a:t>
            </a:r>
          </a:p>
          <a:p>
            <a:endParaRPr lang="en-US" sz="1400" dirty="0">
              <a:ea typeface="Calibri"/>
              <a:cs typeface="Calibri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6236208" y="5596128"/>
            <a:ext cx="1371600" cy="923544"/>
          </a:xfrm>
          <a:prstGeom prst="rect">
            <a:avLst/>
          </a:prstGeom>
          <a:solidFill>
            <a:srgbClr val="FFF7ED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400" dirty="0">
                <a:ea typeface="+mn-lt"/>
                <a:cs typeface="+mn-lt"/>
              </a:rPr>
              <a:t>• </a:t>
            </a:r>
            <a:r>
              <a:rPr lang="en-US" sz="1400" dirty="0" err="1">
                <a:ea typeface="+mn-lt"/>
                <a:cs typeface="+mn-lt"/>
              </a:rPr>
              <a:t>Comparatif</a:t>
            </a:r>
            <a:r>
              <a:rPr lang="en-US" sz="1400" dirty="0">
                <a:ea typeface="+mn-lt"/>
                <a:cs typeface="+mn-lt"/>
              </a:rPr>
              <a:t> entre </a:t>
            </a:r>
            <a:r>
              <a:rPr lang="en-US" sz="1400" dirty="0" err="1">
                <a:ea typeface="+mn-lt"/>
                <a:cs typeface="+mn-lt"/>
              </a:rPr>
              <a:t>athlètes</a:t>
            </a:r>
            <a:r>
              <a:rPr lang="en-US" sz="1400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 sz="1400" dirty="0">
                <a:ea typeface="+mn-lt"/>
                <a:cs typeface="+mn-lt"/>
              </a:rPr>
              <a:t>• </a:t>
            </a:r>
            <a:r>
              <a:rPr lang="en-US" sz="1400" dirty="0" err="1">
                <a:ea typeface="+mn-lt"/>
                <a:cs typeface="+mn-lt"/>
              </a:rPr>
              <a:t>Prédiction</a:t>
            </a:r>
            <a:r>
              <a:rPr lang="en-US" sz="1400" dirty="0">
                <a:ea typeface="+mn-lt"/>
                <a:cs typeface="+mn-lt"/>
              </a:rPr>
              <a:t> de charge (IA) </a:t>
            </a:r>
            <a:endParaRPr lang="en-US" dirty="0"/>
          </a:p>
          <a:p>
            <a:endParaRPr lang="en-US" sz="1400" dirty="0">
              <a:ea typeface="Calibri"/>
              <a:cs typeface="Calibri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6236208" y="6647688"/>
            <a:ext cx="1371600" cy="649224"/>
          </a:xfrm>
          <a:prstGeom prst="rect">
            <a:avLst/>
          </a:prstGeom>
          <a:solidFill>
            <a:srgbClr val="F8FAFC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400" dirty="0">
                <a:ea typeface="+mn-lt"/>
                <a:cs typeface="+mn-lt"/>
              </a:rPr>
              <a:t>•</a:t>
            </a:r>
            <a:r>
              <a:rPr lang="en-US" sz="1400" dirty="0" err="1">
                <a:ea typeface="+mn-lt"/>
                <a:cs typeface="+mn-lt"/>
              </a:rPr>
              <a:t>Recommandation</a:t>
            </a:r>
            <a:r>
              <a:rPr lang="en-US" sz="1400" dirty="0">
                <a:ea typeface="+mn-lt"/>
                <a:cs typeface="+mn-lt"/>
              </a:rPr>
              <a:t> IA</a:t>
            </a:r>
            <a:r>
              <a:rPr lang="en-US" dirty="0">
                <a:ea typeface="+mn-lt"/>
                <a:cs typeface="+mn-lt"/>
              </a:rPr>
              <a:t> </a:t>
            </a:r>
            <a:endParaRPr lang="fr-FR" dirty="0"/>
          </a:p>
        </p:txBody>
      </p:sp>
      <p:sp>
        <p:nvSpPr>
          <p:cNvPr id="72" name="Text 70"/>
          <p:cNvSpPr/>
          <p:nvPr/>
        </p:nvSpPr>
        <p:spPr>
          <a:xfrm>
            <a:off x="9189720" y="1435608"/>
            <a:ext cx="1389888" cy="6492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100" b="1" dirty="0">
              <a:solidFill>
                <a:srgbClr val="111827"/>
              </a:solidFill>
              <a:ea typeface="Calibri"/>
              <a:cs typeface="Calibri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9189720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900" b="1" dirty="0">
              <a:solidFill>
                <a:srgbClr val="111827"/>
              </a:solidFill>
              <a:ea typeface="Calibri"/>
              <a:cs typeface="Calibri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10671048" y="1435608"/>
            <a:ext cx="1389888" cy="6492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100" b="1" dirty="0">
              <a:solidFill>
                <a:srgbClr val="111827"/>
              </a:solidFill>
              <a:ea typeface="Calibri"/>
              <a:cs typeface="Calibri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10671048" y="2121408"/>
            <a:ext cx="1389888" cy="5577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900" b="1" dirty="0">
              <a:solidFill>
                <a:srgbClr val="111827"/>
              </a:solidFill>
              <a:ea typeface="Calibri"/>
              <a:cs typeface="Calibri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10671048" y="2715768"/>
            <a:ext cx="1389888" cy="5120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064E3B"/>
              </a:solidFill>
              <a:ea typeface="Calibri"/>
              <a:cs typeface="Calibri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502920" y="4480560"/>
            <a:ext cx="116037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502920" y="5532120"/>
            <a:ext cx="116037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502920" y="6583680"/>
            <a:ext cx="116037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548640" y="6355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: commencez par les FEATURES (activités) + scénario, puis remplissez MUST (MVP), puis SHOULD/WOULD/WON'T.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</Words>
  <Application>Microsoft Office PowerPoint</Application>
  <PresentationFormat>Grand écran</PresentationFormat>
  <Paragraphs>100</Paragraphs>
  <Slides>2</Slides>
  <Notes>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Office Theme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Coach Scrum CDWFS</dc:creator>
  <cp:lastModifiedBy>Mohamed EL AFRIT</cp:lastModifiedBy>
  <cp:revision>239</cp:revision>
  <dcterms:created xsi:type="dcterms:W3CDTF">2026-01-27T08:47:05Z</dcterms:created>
  <dcterms:modified xsi:type="dcterms:W3CDTF">2026-01-28T08:33:39Z</dcterms:modified>
</cp:coreProperties>
</file>